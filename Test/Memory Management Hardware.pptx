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F765483-B272-42CE-B132-592B7C83BE46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9A9AFE79-F631-4BC7-B48C-55F8CC08F83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74514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65483-B272-42CE-B132-592B7C83BE46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FE79-F631-4BC7-B48C-55F8CC08F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47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65483-B272-42CE-B132-592B7C83BE46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FE79-F631-4BC7-B48C-55F8CC08F838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113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65483-B272-42CE-B132-592B7C83BE46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FE79-F631-4BC7-B48C-55F8CC08F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98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65483-B272-42CE-B132-592B7C83BE46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FE79-F631-4BC7-B48C-55F8CC08F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65483-B272-42CE-B132-592B7C83BE46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FE79-F631-4BC7-B48C-55F8CC08F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124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65483-B272-42CE-B132-592B7C83BE46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FE79-F631-4BC7-B48C-55F8CC08F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28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65483-B272-42CE-B132-592B7C83BE46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FE79-F631-4BC7-B48C-55F8CC08F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785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65483-B272-42CE-B132-592B7C83BE46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FE79-F631-4BC7-B48C-55F8CC08F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344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65483-B272-42CE-B132-592B7C83BE46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FE79-F631-4BC7-B48C-55F8CC08F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68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65483-B272-42CE-B132-592B7C83BE46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FE79-F631-4BC7-B48C-55F8CC08F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53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F765483-B272-42CE-B132-592B7C83BE46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9A9AFE79-F631-4BC7-B48C-55F8CC08F8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72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957E-0101-C136-B622-0EE1BDAB4F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Memory Management Hardware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F320C-BA36-DDCA-21D8-8ED2C2F2D8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Mokshesh,Shanmukaha,Rajesh,Hussain,Narendra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3691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26BE3-8F52-5E5D-3912-701ECDDF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FFED-50D2-69C5-8D5E-DA7D3F23D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Memory management hardware ensures efficient </a:t>
            </a:r>
            <a:r>
              <a:rPr lang="en-US" sz="2000" b="1" dirty="0"/>
              <a:t>data access and storage</a:t>
            </a:r>
            <a:r>
              <a:rPr lang="en-US" sz="2000" dirty="0"/>
              <a:t>.</a:t>
            </a:r>
          </a:p>
          <a:p>
            <a:r>
              <a:rPr lang="en-US" sz="2000" dirty="0"/>
              <a:t>It supports the </a:t>
            </a:r>
            <a:r>
              <a:rPr lang="en-US" sz="2000" b="1" dirty="0"/>
              <a:t>CPU</a:t>
            </a:r>
            <a:r>
              <a:rPr lang="en-US" sz="2000" dirty="0"/>
              <a:t> in translating logical addresses to physical addresses.</a:t>
            </a:r>
          </a:p>
          <a:p>
            <a:r>
              <a:rPr lang="en-US" sz="2000" dirty="0"/>
              <a:t>Main objectives:</a:t>
            </a:r>
          </a:p>
          <a:p>
            <a:pPr lvl="1"/>
            <a:r>
              <a:rPr lang="en-US" sz="2000" dirty="0"/>
              <a:t>Address translation</a:t>
            </a:r>
          </a:p>
          <a:p>
            <a:pPr lvl="1"/>
            <a:r>
              <a:rPr lang="en-US" sz="2000" dirty="0"/>
              <a:t>Memory protection</a:t>
            </a:r>
          </a:p>
          <a:p>
            <a:pPr lvl="1"/>
            <a:r>
              <a:rPr lang="en-US" sz="2000" dirty="0"/>
              <a:t>Sharing and relocation</a:t>
            </a:r>
          </a:p>
          <a:p>
            <a:pPr lvl="1"/>
            <a:r>
              <a:rPr lang="en-US" sz="2000" dirty="0"/>
              <a:t>Efficient memory utilization</a:t>
            </a:r>
          </a:p>
          <a:p>
            <a:endParaRPr lang="en-IN" dirty="0"/>
          </a:p>
        </p:txBody>
      </p:sp>
      <p:pic>
        <p:nvPicPr>
          <p:cNvPr id="1027" name="Picture 3" descr="Memory Management Unit">
            <a:extLst>
              <a:ext uri="{FF2B5EF4-FFF2-40B4-BE49-F238E27FC236}">
                <a16:creationId xmlns:a16="http://schemas.microsoft.com/office/drawing/2014/main" id="{6FCF4253-CB39-BA14-CDDB-BCE5C7C89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371276"/>
            <a:ext cx="5626444" cy="234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6243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B4E29-8E46-0228-2380-F60563561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Hierarchy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5CFE8-5B3E-CC54-DDE0-542B090DD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is organized in a hierarchy based on </a:t>
            </a:r>
            <a:r>
              <a:rPr lang="en-US" b="1" dirty="0"/>
              <a:t>speed, cost, and capacity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Registers → Cache → Main Memory → Secondary Storage</a:t>
            </a:r>
          </a:p>
          <a:p>
            <a:r>
              <a:rPr lang="en-US" dirty="0"/>
              <a:t>CPU interacts mainly with cache and main memory.</a:t>
            </a:r>
          </a:p>
          <a:p>
            <a:r>
              <a:rPr lang="en-US" dirty="0"/>
              <a:t>Hardware controls data movement between these levels.</a:t>
            </a:r>
          </a:p>
          <a:p>
            <a:r>
              <a:rPr lang="en-US" b="1" dirty="0"/>
              <a:t>Note:</a:t>
            </a:r>
            <a:br>
              <a:rPr lang="en-US" dirty="0"/>
            </a:br>
            <a:r>
              <a:rPr lang="en-US" dirty="0"/>
              <a:t>Memory management hardware ensures data flow between levels for optimal performance.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971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8F6C-81DB-7942-4AB8-76F18A90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Address Mapping and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CD3C2-2EB3-BD17-F6A4-1F3593B00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Content:</a:t>
            </a:r>
            <a:endParaRPr lang="en-US" sz="2000" dirty="0"/>
          </a:p>
          <a:p>
            <a:pPr lvl="1"/>
            <a:r>
              <a:rPr lang="en-US" sz="2000" dirty="0"/>
              <a:t>CPU generates </a:t>
            </a:r>
            <a:r>
              <a:rPr lang="en-US" sz="2000" b="1" dirty="0"/>
              <a:t>logical (virtual)</a:t>
            </a:r>
            <a:r>
              <a:rPr lang="en-US" sz="2000" dirty="0"/>
              <a:t> addresses.</a:t>
            </a:r>
          </a:p>
          <a:p>
            <a:pPr lvl="1"/>
            <a:r>
              <a:rPr lang="en-US" sz="2000" dirty="0"/>
              <a:t>These must be converted into </a:t>
            </a:r>
            <a:r>
              <a:rPr lang="en-US" sz="2000" b="1" dirty="0"/>
              <a:t>physical addresses</a:t>
            </a:r>
            <a:r>
              <a:rPr lang="en-US" sz="2000" dirty="0"/>
              <a:t> for memory access.</a:t>
            </a:r>
          </a:p>
          <a:p>
            <a:pPr lvl="1"/>
            <a:r>
              <a:rPr lang="en-US" sz="2000" dirty="0"/>
              <a:t>The conversion is done by </a:t>
            </a:r>
            <a:r>
              <a:rPr lang="en-US" sz="2000" b="1" dirty="0"/>
              <a:t>Address Mapping Hardware</a:t>
            </a:r>
            <a:r>
              <a:rPr lang="en-US" sz="2000" dirty="0"/>
              <a:t> (part of MMU).</a:t>
            </a:r>
          </a:p>
          <a:p>
            <a:pPr lvl="1"/>
            <a:r>
              <a:rPr lang="en-US" sz="2000" dirty="0"/>
              <a:t>Mapping can be </a:t>
            </a:r>
            <a:r>
              <a:rPr lang="en-US" sz="2000" b="1" dirty="0"/>
              <a:t>direct</a:t>
            </a:r>
            <a:r>
              <a:rPr lang="en-US" sz="2000" dirty="0"/>
              <a:t>, </a:t>
            </a:r>
            <a:r>
              <a:rPr lang="en-US" sz="2000" b="1" dirty="0"/>
              <a:t>associative</a:t>
            </a:r>
            <a:r>
              <a:rPr lang="en-US" sz="2000" dirty="0"/>
              <a:t>, or </a:t>
            </a:r>
            <a:r>
              <a:rPr lang="en-US" sz="2000" b="1" dirty="0"/>
              <a:t>set-associative</a:t>
            </a:r>
            <a:r>
              <a:rPr lang="en-US" sz="2000" dirty="0"/>
              <a:t> (depending on architecture).</a:t>
            </a:r>
          </a:p>
          <a:p>
            <a:r>
              <a:rPr lang="en-US" sz="2000" b="1" dirty="0"/>
              <a:t>Equation Example:</a:t>
            </a:r>
            <a:br>
              <a:rPr lang="en-US" sz="2000" dirty="0"/>
            </a:br>
            <a:r>
              <a:rPr lang="en-US" sz="2000" dirty="0"/>
              <a:t>Physical Address = Base Register + Logical Address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979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241D-AB19-5830-8D4C-3ADD13D5F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 Management Unit (MMU)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AB53F-83AD-B0C9-8300-A09E6A075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MMU</a:t>
            </a:r>
            <a:r>
              <a:rPr lang="en-US" dirty="0"/>
              <a:t> is a key component between the CPU and memory.</a:t>
            </a:r>
          </a:p>
          <a:p>
            <a:r>
              <a:rPr lang="en-US" dirty="0"/>
              <a:t>Responsibilities:</a:t>
            </a:r>
          </a:p>
          <a:p>
            <a:pPr lvl="1"/>
            <a:r>
              <a:rPr lang="en-US" dirty="0"/>
              <a:t>Translate logical → physical addresses.</a:t>
            </a:r>
          </a:p>
          <a:p>
            <a:pPr lvl="1"/>
            <a:r>
              <a:rPr lang="en-US" dirty="0"/>
              <a:t>Enforce protection (access rights).</a:t>
            </a:r>
          </a:p>
          <a:p>
            <a:pPr lvl="1"/>
            <a:r>
              <a:rPr lang="en-US" dirty="0"/>
              <a:t>Manage relocation dynamically.</a:t>
            </a:r>
          </a:p>
          <a:p>
            <a:r>
              <a:rPr lang="en-US" dirty="0"/>
              <a:t>The MMU uses </a:t>
            </a:r>
            <a:r>
              <a:rPr lang="en-US" b="1" dirty="0"/>
              <a:t>Base</a:t>
            </a:r>
            <a:r>
              <a:rPr lang="en-US" dirty="0"/>
              <a:t> and </a:t>
            </a:r>
            <a:r>
              <a:rPr lang="en-US" b="1" dirty="0"/>
              <a:t>Limit Registers</a:t>
            </a:r>
            <a:r>
              <a:rPr lang="en-US" dirty="0"/>
              <a:t> or </a:t>
            </a:r>
            <a:r>
              <a:rPr lang="en-US" b="1" dirty="0"/>
              <a:t>Page Tables</a:t>
            </a:r>
            <a:r>
              <a:rPr lang="en-US" dirty="0"/>
              <a:t> for mapping.</a:t>
            </a:r>
          </a:p>
          <a:p>
            <a:endParaRPr lang="en-IN" dirty="0"/>
          </a:p>
        </p:txBody>
      </p:sp>
      <p:pic>
        <p:nvPicPr>
          <p:cNvPr id="2051" name="Picture 3" descr="What is Memory Management Unit (MMU)? | Engineer's Portal">
            <a:extLst>
              <a:ext uri="{FF2B5EF4-FFF2-40B4-BE49-F238E27FC236}">
                <a16:creationId xmlns:a16="http://schemas.microsoft.com/office/drawing/2014/main" id="{B8842BC7-0FE5-9E29-8BA5-20E39A512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4670" y="4254789"/>
            <a:ext cx="3158181" cy="2062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135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DD267-03F6-996C-0B75-337B7F9E6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Base and Limit Registers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E54AB-62E9-07B1-46F3-C355CA6F6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in </a:t>
            </a:r>
            <a:r>
              <a:rPr lang="en-US" b="1" dirty="0"/>
              <a:t>simple memory management</a:t>
            </a:r>
            <a:r>
              <a:rPr lang="en-US" dirty="0"/>
              <a:t> schemes.</a:t>
            </a:r>
          </a:p>
          <a:p>
            <a:r>
              <a:rPr lang="en-US" b="1" dirty="0"/>
              <a:t>Base Register:</a:t>
            </a:r>
            <a:r>
              <a:rPr lang="en-US" dirty="0"/>
              <a:t> Holds the starting physical address of a process.</a:t>
            </a:r>
          </a:p>
          <a:p>
            <a:r>
              <a:rPr lang="en-US" b="1" dirty="0"/>
              <a:t>Limit Register:</a:t>
            </a:r>
            <a:r>
              <a:rPr lang="en-US" dirty="0"/>
              <a:t> Defines the range of valid addresses.</a:t>
            </a:r>
          </a:p>
          <a:p>
            <a:r>
              <a:rPr lang="en-US" dirty="0"/>
              <a:t>Every memory access is checked against these registers.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If Logical Address = 300, Base = 2000 → Physical Address = 2300</a:t>
            </a:r>
            <a:br>
              <a:rPr lang="en-US" dirty="0"/>
            </a:br>
            <a:r>
              <a:rPr lang="en-US" dirty="0"/>
              <a:t>Access allowed if 300 &lt; Limit</a:t>
            </a:r>
          </a:p>
          <a:p>
            <a:r>
              <a:rPr lang="en-US" b="1" dirty="0"/>
              <a:t>Advantage:</a:t>
            </a:r>
            <a:r>
              <a:rPr lang="en-US" dirty="0"/>
              <a:t> Fast protection and relocation mechanism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84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61E4-3E1C-95AF-301F-DF836602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Relocation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7A6A3-7024-AC78-4786-745DD3F42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Allows a process to be moved in memory during execution.</a:t>
            </a:r>
          </a:p>
          <a:p>
            <a:r>
              <a:rPr lang="en-US" dirty="0"/>
              <a:t>Achieved by adding the </a:t>
            </a:r>
            <a:r>
              <a:rPr lang="en-US" b="1" dirty="0"/>
              <a:t>base register value</a:t>
            </a:r>
            <a:r>
              <a:rPr lang="en-US" dirty="0"/>
              <a:t> to each logical address at runtime.</a:t>
            </a:r>
          </a:p>
          <a:p>
            <a:r>
              <a:rPr lang="en-US" dirty="0"/>
              <a:t>Eliminates need to recompile or reload programs.</a:t>
            </a:r>
          </a:p>
          <a:p>
            <a:r>
              <a:rPr lang="en-US" dirty="0"/>
              <a:t>Ensures efficient memory use and flexibility.</a:t>
            </a:r>
          </a:p>
          <a:p>
            <a:endParaRPr lang="en-IN" dirty="0"/>
          </a:p>
        </p:txBody>
      </p:sp>
      <p:pic>
        <p:nvPicPr>
          <p:cNvPr id="3074" name="Picture 2" descr="Diagram of Logical Address plus Base Register to Physical Address conversion">
            <a:extLst>
              <a:ext uri="{FF2B5EF4-FFF2-40B4-BE49-F238E27FC236}">
                <a16:creationId xmlns:a16="http://schemas.microsoft.com/office/drawing/2014/main" id="{F18B1F14-FC1E-7DD0-1929-A79D1B5B3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923" y="3160035"/>
            <a:ext cx="3332205" cy="333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4889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85966-C998-BC7E-D17A-55748413A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Paging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B250C-A540-84FE-D958-5744466F2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is divided into </a:t>
            </a:r>
            <a:r>
              <a:rPr lang="en-US" b="1" dirty="0"/>
              <a:t>fixed-size blocks</a:t>
            </a:r>
            <a:r>
              <a:rPr lang="en-US" dirty="0"/>
              <a:t> called </a:t>
            </a:r>
            <a:r>
              <a:rPr lang="en-US" b="1" dirty="0"/>
              <a:t>pages</a:t>
            </a:r>
            <a:r>
              <a:rPr lang="en-US" dirty="0"/>
              <a:t> and </a:t>
            </a:r>
            <a:r>
              <a:rPr lang="en-US" b="1" dirty="0"/>
              <a:t>frames</a:t>
            </a:r>
            <a:r>
              <a:rPr lang="en-US" dirty="0"/>
              <a:t>.</a:t>
            </a:r>
          </a:p>
          <a:p>
            <a:r>
              <a:rPr lang="en-US" dirty="0"/>
              <a:t>Each process has a </a:t>
            </a:r>
            <a:r>
              <a:rPr lang="en-US" b="1" dirty="0"/>
              <a:t>page table</a:t>
            </a:r>
            <a:r>
              <a:rPr lang="en-US" dirty="0"/>
              <a:t> that maps its pages to physical frames.</a:t>
            </a:r>
          </a:p>
          <a:p>
            <a:r>
              <a:rPr lang="en-US" dirty="0"/>
              <a:t>MMU uses </a:t>
            </a:r>
            <a:r>
              <a:rPr lang="en-US" b="1" dirty="0"/>
              <a:t>page number</a:t>
            </a:r>
            <a:r>
              <a:rPr lang="en-US" dirty="0"/>
              <a:t> and </a:t>
            </a:r>
            <a:r>
              <a:rPr lang="en-US" b="1" dirty="0"/>
              <a:t>offset</a:t>
            </a:r>
            <a:r>
              <a:rPr lang="en-US" dirty="0"/>
              <a:t> for address translation.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Logical Address = (Page no. = 2, Offset = 100)</a:t>
            </a:r>
            <a:br>
              <a:rPr lang="en-US" dirty="0"/>
            </a:br>
            <a:r>
              <a:rPr lang="en-US" dirty="0"/>
              <a:t>→ Physical Address = Frame no. from Page Table + Offset</a:t>
            </a:r>
          </a:p>
          <a:p>
            <a:r>
              <a:rPr lang="en-US" b="1" dirty="0"/>
              <a:t>Hardware:</a:t>
            </a:r>
            <a:r>
              <a:rPr lang="en-US" dirty="0"/>
              <a:t> Page Table stored in memory; TLB used for speed.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00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94C9-2774-4204-112A-ECB371BB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Translation Lookaside Buffer (TLB)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847EF-CF57-3CE7-37AA-70F0DE29D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high-speed associative memory</a:t>
            </a:r>
            <a:r>
              <a:rPr lang="en-US" dirty="0"/>
              <a:t> inside the MMU.</a:t>
            </a:r>
          </a:p>
          <a:p>
            <a:r>
              <a:rPr lang="en-US" dirty="0"/>
              <a:t>Stores recently used page-to-frame mappings.</a:t>
            </a:r>
          </a:p>
          <a:p>
            <a:r>
              <a:rPr lang="en-US" dirty="0"/>
              <a:t>Reduces time required for address translation.</a:t>
            </a:r>
          </a:p>
          <a:p>
            <a:r>
              <a:rPr lang="en-US" dirty="0"/>
              <a:t>If match found in TLB → Fast access (TLB hit).</a:t>
            </a:r>
          </a:p>
          <a:p>
            <a:r>
              <a:rPr lang="en-US" dirty="0"/>
              <a:t>If not → MMU fetches from Page Table (TLB miss).</a:t>
            </a:r>
          </a:p>
          <a:p>
            <a:r>
              <a:rPr lang="en-US" b="1" dirty="0"/>
              <a:t>Formula:</a:t>
            </a:r>
            <a:br>
              <a:rPr lang="en-US" dirty="0"/>
            </a:br>
            <a:r>
              <a:rPr lang="en-US" dirty="0"/>
              <a:t>Effective Access Time = (Hit Ratio × TLB Access) + (Miss Ratio × (TLB + Memory Access))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7865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D5AB-A726-6C28-8400-734FD1FC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Segmentation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51C1E-BADF-923F-815F-2669B52A3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Divides memory based on </a:t>
            </a:r>
            <a:r>
              <a:rPr lang="en-US" b="1" dirty="0"/>
              <a:t>logical program structure</a:t>
            </a:r>
            <a:r>
              <a:rPr lang="en-US" dirty="0"/>
              <a:t> (code, stack, data).</a:t>
            </a:r>
          </a:p>
          <a:p>
            <a:r>
              <a:rPr lang="en-US" dirty="0"/>
              <a:t>Each segment has:</a:t>
            </a:r>
          </a:p>
          <a:p>
            <a:pPr lvl="1"/>
            <a:r>
              <a:rPr lang="en-US" b="1" dirty="0"/>
              <a:t>Base Register</a:t>
            </a:r>
            <a:r>
              <a:rPr lang="en-US" dirty="0"/>
              <a:t> (start address)</a:t>
            </a:r>
          </a:p>
          <a:p>
            <a:pPr lvl="1"/>
            <a:r>
              <a:rPr lang="en-US" b="1" dirty="0"/>
              <a:t>Limit Register</a:t>
            </a:r>
            <a:r>
              <a:rPr lang="en-US" dirty="0"/>
              <a:t> (segment length)</a:t>
            </a:r>
          </a:p>
          <a:p>
            <a:r>
              <a:rPr lang="en-US" dirty="0"/>
              <a:t>Enables protection and sharing at the segment level.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 descr="Diagram of Segment Table to Physical Address via Base and Offset">
            <a:extLst>
              <a:ext uri="{FF2B5EF4-FFF2-40B4-BE49-F238E27FC236}">
                <a16:creationId xmlns:a16="http://schemas.microsoft.com/office/drawing/2014/main" id="{D5ACFDE6-8661-F4D1-A7F1-63D8E69CB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178" y="3029164"/>
            <a:ext cx="3150973" cy="3150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063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8CF8-2138-D4AC-C7A1-7B383C6E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Protection and Sharing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DA912-1061-F562-EB2C-22418FF6B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Protection:</a:t>
            </a:r>
            <a:r>
              <a:rPr lang="en-US" dirty="0"/>
              <a:t> Prevents illegal access using limit registers and page/segment tables.</a:t>
            </a:r>
          </a:p>
          <a:p>
            <a:r>
              <a:rPr lang="en-US" b="1" dirty="0"/>
              <a:t>Sharing:</a:t>
            </a:r>
            <a:r>
              <a:rPr lang="en-US" dirty="0"/>
              <a:t> Allows multiple processes to use the same memory (e.g., shared code).</a:t>
            </a:r>
          </a:p>
          <a:p>
            <a:r>
              <a:rPr lang="en-US" b="1" dirty="0"/>
              <a:t>Access Control Bits:</a:t>
            </a:r>
            <a:r>
              <a:rPr lang="en-US" dirty="0"/>
              <a:t> Read, Write, Execute permissions stored in tables.</a:t>
            </a:r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Read-only code shared among processes safely.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6111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9EA8-8E87-76E5-CF51-E15A5C035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81DE7-DB52-E3FC-1785-B309FC136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Management Hardware ensures:</a:t>
            </a:r>
          </a:p>
          <a:p>
            <a:pPr lvl="1"/>
            <a:r>
              <a:rPr lang="en-US" b="1" dirty="0"/>
              <a:t>Efficient address translation</a:t>
            </a:r>
            <a:r>
              <a:rPr lang="en-US" dirty="0"/>
              <a:t> (via MMU, TLB)</a:t>
            </a:r>
          </a:p>
          <a:p>
            <a:pPr lvl="1"/>
            <a:r>
              <a:rPr lang="en-US" b="1" dirty="0"/>
              <a:t>Protection and isolation</a:t>
            </a:r>
            <a:r>
              <a:rPr lang="en-US" dirty="0"/>
              <a:t> (via limit/base registers)</a:t>
            </a:r>
          </a:p>
          <a:p>
            <a:pPr lvl="1"/>
            <a:r>
              <a:rPr lang="en-US" b="1" dirty="0"/>
              <a:t>Flexibility</a:t>
            </a:r>
            <a:r>
              <a:rPr lang="en-US" dirty="0"/>
              <a:t> (via paging and segmentation)</a:t>
            </a:r>
          </a:p>
          <a:p>
            <a:r>
              <a:rPr lang="en-US" dirty="0"/>
              <a:t>Acts as the foundation for </a:t>
            </a:r>
            <a:r>
              <a:rPr lang="en-US" b="1" dirty="0"/>
              <a:t>virtual memory systems</a:t>
            </a:r>
            <a:r>
              <a:rPr lang="en-US" dirty="0"/>
              <a:t> in modern CPUs.</a:t>
            </a:r>
          </a:p>
          <a:p>
            <a:r>
              <a:rPr lang="en-US" b="1" dirty="0"/>
              <a:t>Key takeaway:</a:t>
            </a:r>
            <a:br>
              <a:rPr lang="en-US" dirty="0"/>
            </a:br>
            <a:r>
              <a:rPr lang="en-US" dirty="0"/>
              <a:t>Hardware support is essential for reliable and high-speed memory operations.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6784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4C26D-02B6-63B2-B30D-A2C807096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315" y="2482884"/>
            <a:ext cx="9692640" cy="1325562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656382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17</TotalTime>
  <Words>657</Words>
  <Application>Microsoft Office PowerPoint</Application>
  <PresentationFormat>Widescreen</PresentationFormat>
  <Paragraphs>74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Schoolbook</vt:lpstr>
      <vt:lpstr>Wingdings 2</vt:lpstr>
      <vt:lpstr>View</vt:lpstr>
      <vt:lpstr>Memory Management Hardware</vt:lpstr>
      <vt:lpstr>Introduction</vt:lpstr>
      <vt:lpstr>Memory Hierarchy Overview</vt:lpstr>
      <vt:lpstr>Address Mapping and Translation</vt:lpstr>
      <vt:lpstr>Memory Management Unit (MMU)</vt:lpstr>
      <vt:lpstr>Base and Limit Registers</vt:lpstr>
      <vt:lpstr>Dynamic Relocation</vt:lpstr>
      <vt:lpstr>Paging Hardware</vt:lpstr>
      <vt:lpstr>Translation Lookaside Buffer (TLB)</vt:lpstr>
      <vt:lpstr>Segmentation Hardware</vt:lpstr>
      <vt:lpstr>Protection and Sharing</vt:lpstr>
      <vt:lpstr>Summary and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Narendra Poreddy</dc:creator>
  <cp:lastModifiedBy>Narendra Poreddy</cp:lastModifiedBy>
  <cp:revision>1</cp:revision>
  <dcterms:created xsi:type="dcterms:W3CDTF">2025-10-09T12:54:13Z</dcterms:created>
  <dcterms:modified xsi:type="dcterms:W3CDTF">2025-10-09T13:11:29Z</dcterms:modified>
</cp:coreProperties>
</file>